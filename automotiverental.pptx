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 algn="ctr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2"/>
          <p:cNvSpPr/>
          <p:nvPr/>
        </p:nvSpPr>
        <p:spPr>
          <a:xfrm>
            <a:off x="2285999" y="3670881"/>
            <a:ext cx="7620001" cy="12701"/>
          </a:xfrm>
          <a:prstGeom prst="rect">
            <a:avLst/>
          </a:prstGeom>
          <a:solidFill>
            <a:srgbClr val="3341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TextBox 3"/>
          <p:cNvSpPr txBox="1"/>
          <p:nvPr/>
        </p:nvSpPr>
        <p:spPr>
          <a:xfrm>
            <a:off x="4630473" y="1541365"/>
            <a:ext cx="293105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b="1" sz="110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ACADEMIC WEB DEVELOPMENT PROJECT</a:t>
            </a:r>
          </a:p>
        </p:txBody>
      </p:sp>
      <p:sp>
        <p:nvSpPr>
          <p:cNvPr id="96" name="TextBox 4"/>
          <p:cNvSpPr txBox="1"/>
          <p:nvPr/>
        </p:nvSpPr>
        <p:spPr>
          <a:xfrm>
            <a:off x="3802198" y="1789676"/>
            <a:ext cx="4587604" cy="706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5400"/>
              </a:lnSpc>
              <a:defRPr b="1" sz="54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Onyx Reserve</a:t>
            </a:r>
          </a:p>
        </p:txBody>
      </p:sp>
      <p:sp>
        <p:nvSpPr>
          <p:cNvPr id="97" name="TextBox 5"/>
          <p:cNvSpPr txBox="1"/>
          <p:nvPr/>
        </p:nvSpPr>
        <p:spPr>
          <a:xfrm>
            <a:off x="1333499" y="2579247"/>
            <a:ext cx="95250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A high-performance luxury automotive rental portal</a:t>
            </a:r>
          </a:p>
        </p:txBody>
      </p:sp>
      <p:sp>
        <p:nvSpPr>
          <p:cNvPr id="98" name="TextBox 6"/>
          <p:cNvSpPr txBox="1"/>
          <p:nvPr/>
        </p:nvSpPr>
        <p:spPr>
          <a:xfrm>
            <a:off x="2285999" y="3901086"/>
            <a:ext cx="108805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TECHNICAL STACK</a:t>
            </a:r>
          </a:p>
        </p:txBody>
      </p:sp>
      <p:sp>
        <p:nvSpPr>
          <p:cNvPr id="99" name="TextBox 7"/>
          <p:cNvSpPr txBox="1"/>
          <p:nvPr/>
        </p:nvSpPr>
        <p:spPr>
          <a:xfrm>
            <a:off x="2267228" y="4120161"/>
            <a:ext cx="182155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HTML5 • CSS3 • PYTHON</a:t>
            </a:r>
          </a:p>
        </p:txBody>
      </p:sp>
      <p:sp>
        <p:nvSpPr>
          <p:cNvPr id="100" name="TextBox 8"/>
          <p:cNvSpPr txBox="1"/>
          <p:nvPr/>
        </p:nvSpPr>
        <p:spPr>
          <a:xfrm>
            <a:off x="9141810" y="3901086"/>
            <a:ext cx="76419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b="1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FOCUS AREA</a:t>
            </a:r>
          </a:p>
        </p:txBody>
      </p:sp>
      <p:sp>
        <p:nvSpPr>
          <p:cNvPr id="101" name="TextBox 9"/>
          <p:cNvSpPr txBox="1"/>
          <p:nvPr/>
        </p:nvSpPr>
        <p:spPr>
          <a:xfrm>
            <a:off x="8224638" y="4120161"/>
            <a:ext cx="168136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Responsive Semantic UI</a:t>
            </a:r>
          </a:p>
        </p:txBody>
      </p:sp>
      <p:sp>
        <p:nvSpPr>
          <p:cNvPr id="102" name="Mohammed Saquib - 25ISO67…"/>
          <p:cNvSpPr txBox="1"/>
          <p:nvPr/>
        </p:nvSpPr>
        <p:spPr>
          <a:xfrm>
            <a:off x="2249235" y="5469585"/>
            <a:ext cx="4058188" cy="438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Mohammed Saquib - 25ISO67 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Manu MJ - 25IS061</a:t>
            </a:r>
          </a:p>
        </p:txBody>
      </p:sp>
      <p:sp>
        <p:nvSpPr>
          <p:cNvPr id="103" name="Presented by"/>
          <p:cNvSpPr txBox="1"/>
          <p:nvPr/>
        </p:nvSpPr>
        <p:spPr>
          <a:xfrm>
            <a:off x="2261809" y="5134025"/>
            <a:ext cx="1315899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576479"/>
                </a:solidFill>
              </a:defRPr>
            </a:lvl1pPr>
          </a:lstStyle>
          <a:p>
            <a:pPr/>
            <a:r>
              <a:t>Presented by</a:t>
            </a:r>
          </a:p>
        </p:txBody>
      </p:sp>
      <p:sp>
        <p:nvSpPr>
          <p:cNvPr id="104" name="Project Guide"/>
          <p:cNvSpPr txBox="1"/>
          <p:nvPr/>
        </p:nvSpPr>
        <p:spPr>
          <a:xfrm>
            <a:off x="8579985" y="5165009"/>
            <a:ext cx="1362780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677389"/>
                </a:solidFill>
              </a:defRPr>
            </a:lvl1pPr>
          </a:lstStyle>
          <a:p>
            <a:pPr/>
            <a:r>
              <a:t>Project Guide</a:t>
            </a:r>
          </a:p>
        </p:txBody>
      </p:sp>
      <p:sp>
        <p:nvSpPr>
          <p:cNvPr id="105" name="Mrs. Rohini K S"/>
          <p:cNvSpPr txBox="1"/>
          <p:nvPr/>
        </p:nvSpPr>
        <p:spPr>
          <a:xfrm>
            <a:off x="8872466" y="5564835"/>
            <a:ext cx="1025685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Mrs. Rohini K S</a:t>
            </a:r>
          </a:p>
        </p:txBody>
      </p:sp>
      <p:sp>
        <p:nvSpPr>
          <p:cNvPr id="106" name="DEPARTMENT OF INFORMATION SCIENCE AND ENGINEERING"/>
          <p:cNvSpPr txBox="1"/>
          <p:nvPr/>
        </p:nvSpPr>
        <p:spPr>
          <a:xfrm>
            <a:off x="2077428" y="896092"/>
            <a:ext cx="3556638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DEPARTMENT OF INFORMATION SCIENCE AND ENGINEERING</a:t>
            </a:r>
            <a:endParaRPr b="0">
              <a:solidFill>
                <a:srgbClr val="000000"/>
              </a:solidFill>
              <a:latin typeface="Times Roman"/>
              <a:ea typeface="Times Roman"/>
              <a:cs typeface="Times Roman"/>
              <a:sym typeface="Times Roman"/>
            </a:endParaRPr>
          </a:p>
        </p:txBody>
      </p:sp>
      <p:sp>
        <p:nvSpPr>
          <p:cNvPr id="107" name="SRI SIDDHARTHA INSTITUTE OF TECHNOLOGY"/>
          <p:cNvSpPr txBox="1"/>
          <p:nvPr/>
        </p:nvSpPr>
        <p:spPr>
          <a:xfrm>
            <a:off x="1841892" y="623078"/>
            <a:ext cx="431351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66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SRI SIDDHARTHA INSTITUTE OF TECHNOLOGY</a:t>
            </a:r>
            <a:endParaRPr b="0">
              <a:solidFill>
                <a:srgbClr val="000000"/>
              </a:solidFill>
              <a:latin typeface="Times Roman"/>
              <a:ea typeface="Times Roman"/>
              <a:cs typeface="Times Roman"/>
              <a:sym typeface="Times Roman"/>
            </a:endParaR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"/>
          <p:cNvSpPr/>
          <p:nvPr/>
        </p:nvSpPr>
        <p:spPr>
          <a:xfrm>
            <a:off x="-1" y="-1"/>
            <a:ext cx="6329810" cy="618857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" name="Rectangle 3"/>
          <p:cNvSpPr/>
          <p:nvPr/>
        </p:nvSpPr>
        <p:spPr>
          <a:xfrm>
            <a:off x="762000" y="4001987"/>
            <a:ext cx="571500" cy="38101"/>
          </a:xfrm>
          <a:prstGeom prst="rect">
            <a:avLst/>
          </a:prstGeom>
          <a:solidFill>
            <a:srgbClr val="EF444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" name="TextBox 5"/>
          <p:cNvSpPr txBox="1"/>
          <p:nvPr/>
        </p:nvSpPr>
        <p:spPr>
          <a:xfrm>
            <a:off x="761999" y="762000"/>
            <a:ext cx="1289895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100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INDUSTRY FRICTION</a:t>
            </a:r>
          </a:p>
        </p:txBody>
      </p:sp>
      <p:sp>
        <p:nvSpPr>
          <p:cNvPr id="112" name="TextBox 6"/>
          <p:cNvSpPr txBox="1"/>
          <p:nvPr/>
        </p:nvSpPr>
        <p:spPr>
          <a:xfrm>
            <a:off x="761999" y="1076325"/>
            <a:ext cx="5136112" cy="14919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3900"/>
              </a:lnSpc>
              <a:defRPr b="1" sz="3600">
                <a:solidFill>
                  <a:srgbClr val="0F1115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pPr>
            <a:r>
              <a:t>Lightweight by Design-</a:t>
            </a:r>
          </a:p>
          <a:p>
            <a:pPr>
              <a:lnSpc>
                <a:spcPts val="3900"/>
              </a:lnSpc>
              <a:defRPr b="1" sz="3600">
                <a:solidFill>
                  <a:srgbClr val="0F1115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pPr>
            <a:r>
              <a:t>Beyond JavaScript</a:t>
            </a:r>
          </a:p>
        </p:txBody>
      </p:sp>
      <p:sp>
        <p:nvSpPr>
          <p:cNvPr id="113" name="TextBox 7"/>
          <p:cNvSpPr txBox="1"/>
          <p:nvPr/>
        </p:nvSpPr>
        <p:spPr>
          <a:xfrm>
            <a:off x="762000" y="2615505"/>
            <a:ext cx="4891533" cy="6410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600"/>
              </a:lnSpc>
              <a:defRPr sz="16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Modern automotive portals depend on heavy runtime frameworks for basic promotional layouts.</a:t>
            </a:r>
          </a:p>
        </p:txBody>
      </p:sp>
      <p:sp>
        <p:nvSpPr>
          <p:cNvPr id="114" name="TextBox 8"/>
          <p:cNvSpPr txBox="1"/>
          <p:nvPr/>
        </p:nvSpPr>
        <p:spPr>
          <a:xfrm>
            <a:off x="762000" y="4421087"/>
            <a:ext cx="4891533" cy="6410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600"/>
              </a:lnSpc>
              <a:defRPr sz="1600">
                <a:solidFill>
                  <a:srgbClr val="0F111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This template proves pure HTML5 semantics and CSS3 achieve superior performance and visual depth.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ounded Rectangle 1"/>
          <p:cNvSpPr/>
          <p:nvPr/>
        </p:nvSpPr>
        <p:spPr>
          <a:xfrm>
            <a:off x="762000" y="3189833"/>
            <a:ext cx="3352800" cy="2209801"/>
          </a:xfrm>
          <a:prstGeom prst="roundRect">
            <a:avLst>
              <a:gd name="adj" fmla="val 3448"/>
            </a:avLst>
          </a:prstGeom>
          <a:solidFill>
            <a:srgbClr val="F8FA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" name="Rounded Rectangle 2"/>
          <p:cNvSpPr/>
          <p:nvPr/>
        </p:nvSpPr>
        <p:spPr>
          <a:xfrm>
            <a:off x="4419600" y="3189833"/>
            <a:ext cx="3352800" cy="2209801"/>
          </a:xfrm>
          <a:prstGeom prst="roundRect">
            <a:avLst>
              <a:gd name="adj" fmla="val 3448"/>
            </a:avLst>
          </a:prstGeom>
          <a:solidFill>
            <a:srgbClr val="F8FA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" name="Rounded Rectangle 3"/>
          <p:cNvSpPr/>
          <p:nvPr/>
        </p:nvSpPr>
        <p:spPr>
          <a:xfrm>
            <a:off x="8077200" y="3189833"/>
            <a:ext cx="3352800" cy="2209801"/>
          </a:xfrm>
          <a:prstGeom prst="roundRect">
            <a:avLst>
              <a:gd name="adj" fmla="val 3448"/>
            </a:avLst>
          </a:prstGeom>
          <a:solidFill>
            <a:srgbClr val="F8FA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" name="Rectangle 4"/>
          <p:cNvSpPr/>
          <p:nvPr/>
        </p:nvSpPr>
        <p:spPr>
          <a:xfrm>
            <a:off x="762000" y="3189833"/>
            <a:ext cx="3352800" cy="38101"/>
          </a:xfrm>
          <a:prstGeom prst="rect">
            <a:avLst/>
          </a:prstGeom>
          <a:solidFill>
            <a:srgbClr val="EF444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" name="Rectangle 5"/>
          <p:cNvSpPr/>
          <p:nvPr/>
        </p:nvSpPr>
        <p:spPr>
          <a:xfrm>
            <a:off x="4419600" y="3189833"/>
            <a:ext cx="3352800" cy="38101"/>
          </a:xfrm>
          <a:prstGeom prst="rect">
            <a:avLst/>
          </a:prstGeom>
          <a:solidFill>
            <a:srgbClr val="EF444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" name="Rectangle 6"/>
          <p:cNvSpPr/>
          <p:nvPr/>
        </p:nvSpPr>
        <p:spPr>
          <a:xfrm>
            <a:off x="8077200" y="3189833"/>
            <a:ext cx="3352800" cy="38101"/>
          </a:xfrm>
          <a:prstGeom prst="rect">
            <a:avLst/>
          </a:prstGeom>
          <a:solidFill>
            <a:srgbClr val="EF444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22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43000" y="3608932"/>
            <a:ext cx="285750" cy="381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3" name="Picture 8" descr="Picture 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800600" y="3608932"/>
            <a:ext cx="381000" cy="381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4" name="Picture 9" descr="Picture 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458200" y="3608932"/>
            <a:ext cx="285750" cy="381001"/>
          </a:xfrm>
          <a:prstGeom prst="rect">
            <a:avLst/>
          </a:prstGeom>
          <a:ln w="12700">
            <a:miter lim="400000"/>
          </a:ln>
        </p:spPr>
      </p:pic>
      <p:sp>
        <p:nvSpPr>
          <p:cNvPr id="125" name="TextBox 10"/>
          <p:cNvSpPr txBox="1"/>
          <p:nvPr/>
        </p:nvSpPr>
        <p:spPr>
          <a:xfrm>
            <a:off x="762000" y="762000"/>
            <a:ext cx="1125191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100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CORE MANDATES</a:t>
            </a:r>
          </a:p>
        </p:txBody>
      </p:sp>
      <p:sp>
        <p:nvSpPr>
          <p:cNvPr id="126" name="TextBox 11"/>
          <p:cNvSpPr txBox="1"/>
          <p:nvPr/>
        </p:nvSpPr>
        <p:spPr>
          <a:xfrm>
            <a:off x="762000" y="1076325"/>
            <a:ext cx="4002262" cy="501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900"/>
              </a:lnSpc>
              <a:defRPr b="1" sz="3600">
                <a:solidFill>
                  <a:srgbClr val="0F1115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Project Objectives</a:t>
            </a:r>
          </a:p>
        </p:txBody>
      </p:sp>
      <p:sp>
        <p:nvSpPr>
          <p:cNvPr id="127" name="TextBox 12"/>
          <p:cNvSpPr txBox="1"/>
          <p:nvPr/>
        </p:nvSpPr>
        <p:spPr>
          <a:xfrm>
            <a:off x="1143000" y="4218532"/>
            <a:ext cx="2108833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>
                <a:solidFill>
                  <a:srgbClr val="0F1115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Semantic Structure</a:t>
            </a:r>
          </a:p>
        </p:txBody>
      </p:sp>
      <p:sp>
        <p:nvSpPr>
          <p:cNvPr id="128" name="TextBox 13"/>
          <p:cNvSpPr txBox="1"/>
          <p:nvPr/>
        </p:nvSpPr>
        <p:spPr>
          <a:xfrm>
            <a:off x="1143000" y="4618582"/>
            <a:ext cx="2686050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Native HTML5 tags over generic nesting.</a:t>
            </a:r>
          </a:p>
        </p:txBody>
      </p:sp>
      <p:sp>
        <p:nvSpPr>
          <p:cNvPr id="129" name="TextBox 14"/>
          <p:cNvSpPr txBox="1"/>
          <p:nvPr/>
        </p:nvSpPr>
        <p:spPr>
          <a:xfrm>
            <a:off x="4800600" y="4218532"/>
            <a:ext cx="1740037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>
                <a:solidFill>
                  <a:srgbClr val="0F1115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CSS-Only Logic</a:t>
            </a:r>
          </a:p>
        </p:txBody>
      </p:sp>
      <p:sp>
        <p:nvSpPr>
          <p:cNvPr id="130" name="TextBox 15"/>
          <p:cNvSpPr txBox="1"/>
          <p:nvPr/>
        </p:nvSpPr>
        <p:spPr>
          <a:xfrm>
            <a:off x="4800600" y="4618582"/>
            <a:ext cx="2686050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Declarative styling without JavaScript overhead.</a:t>
            </a:r>
          </a:p>
        </p:txBody>
      </p:sp>
      <p:sp>
        <p:nvSpPr>
          <p:cNvPr id="131" name="TextBox 16"/>
          <p:cNvSpPr txBox="1"/>
          <p:nvPr/>
        </p:nvSpPr>
        <p:spPr>
          <a:xfrm>
            <a:off x="8458200" y="4218532"/>
            <a:ext cx="1921979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>
                <a:solidFill>
                  <a:srgbClr val="0F1115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Fluid Adaptability</a:t>
            </a:r>
          </a:p>
        </p:txBody>
      </p:sp>
      <p:sp>
        <p:nvSpPr>
          <p:cNvPr id="132" name="TextBox 17"/>
          <p:cNvSpPr txBox="1"/>
          <p:nvPr/>
        </p:nvSpPr>
        <p:spPr>
          <a:xfrm>
            <a:off x="8458200" y="4618582"/>
            <a:ext cx="2686050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Seamless mobile execution via media queries.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43620" y="-108140"/>
            <a:ext cx="6497606" cy="696614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5" name="Picture 1" descr="Pictur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62000" y="2374551"/>
            <a:ext cx="190500" cy="200026"/>
          </a:xfrm>
          <a:prstGeom prst="rect">
            <a:avLst/>
          </a:prstGeom>
          <a:ln w="12700">
            <a:miter lim="400000"/>
          </a:ln>
        </p:spPr>
      </p:pic>
      <p:pic>
        <p:nvPicPr>
          <p:cNvPr id="136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62000" y="2923133"/>
            <a:ext cx="190500" cy="200026"/>
          </a:xfrm>
          <a:prstGeom prst="rect">
            <a:avLst/>
          </a:prstGeom>
          <a:ln w="12700">
            <a:miter lim="400000"/>
          </a:ln>
        </p:spPr>
      </p:pic>
      <p:pic>
        <p:nvPicPr>
          <p:cNvPr id="137" name="Picture 3" descr="Pictur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32773" y="3662212"/>
            <a:ext cx="190501" cy="200026"/>
          </a:xfrm>
          <a:prstGeom prst="rect">
            <a:avLst/>
          </a:prstGeom>
          <a:ln w="12700">
            <a:miter lim="400000"/>
          </a:ln>
        </p:spPr>
      </p:pic>
      <p:sp>
        <p:nvSpPr>
          <p:cNvPr id="138" name="TextBox 4"/>
          <p:cNvSpPr txBox="1"/>
          <p:nvPr/>
        </p:nvSpPr>
        <p:spPr>
          <a:xfrm>
            <a:off x="762000" y="762000"/>
            <a:ext cx="1261617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100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AUDIENCE PROFILE</a:t>
            </a:r>
          </a:p>
        </p:txBody>
      </p:sp>
      <p:sp>
        <p:nvSpPr>
          <p:cNvPr id="139" name="TextBox 5"/>
          <p:cNvSpPr txBox="1"/>
          <p:nvPr/>
        </p:nvSpPr>
        <p:spPr>
          <a:xfrm>
            <a:off x="762000" y="1076325"/>
            <a:ext cx="5018460" cy="501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900"/>
              </a:lnSpc>
              <a:defRPr b="1" sz="3600">
                <a:solidFill>
                  <a:srgbClr val="0F1115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Primary Demographics</a:t>
            </a:r>
          </a:p>
        </p:txBody>
      </p:sp>
      <p:sp>
        <p:nvSpPr>
          <p:cNvPr id="140" name="TextBox 7"/>
          <p:cNvSpPr txBox="1"/>
          <p:nvPr/>
        </p:nvSpPr>
        <p:spPr>
          <a:xfrm>
            <a:off x="1143000" y="2889794"/>
            <a:ext cx="5729598" cy="624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2500"/>
              </a:lnSpc>
              <a:defRPr b="1">
                <a:solidFill>
                  <a:srgbClr val="0F111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Automotive Enthusiasts:</a:t>
            </a:r>
            <a:r>
              <a:rPr b="0"/>
              <a:t> Deep technical telemetry and</a:t>
            </a:r>
            <a:endParaRPr b="0"/>
          </a:p>
          <a:p>
            <a:pPr>
              <a:lnSpc>
                <a:spcPts val="2500"/>
              </a:lnSpc>
              <a:defRPr b="1">
                <a:solidFill>
                  <a:srgbClr val="0F111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rPr b="0"/>
              <a:t> specifications.</a:t>
            </a:r>
          </a:p>
        </p:txBody>
      </p:sp>
      <p:sp>
        <p:nvSpPr>
          <p:cNvPr id="141" name="TextBox 8"/>
          <p:cNvSpPr txBox="1"/>
          <p:nvPr/>
        </p:nvSpPr>
        <p:spPr>
          <a:xfrm>
            <a:off x="1113773" y="3628876"/>
            <a:ext cx="6169051" cy="306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2500"/>
              </a:lnSpc>
              <a:defRPr b="1">
                <a:solidFill>
                  <a:srgbClr val="0F111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High-Net-Worth Individuals:</a:t>
            </a:r>
            <a:r>
              <a:rPr b="0"/>
              <a:t> Frictionless luxury experience.</a:t>
            </a:r>
          </a:p>
        </p:txBody>
      </p:sp>
      <p:sp>
        <p:nvSpPr>
          <p:cNvPr id="142" name="TextBox 6"/>
          <p:cNvSpPr txBox="1"/>
          <p:nvPr/>
        </p:nvSpPr>
        <p:spPr>
          <a:xfrm>
            <a:off x="1143000" y="2341215"/>
            <a:ext cx="6060555" cy="306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2500"/>
              </a:lnSpc>
              <a:defRPr b="1">
                <a:solidFill>
                  <a:srgbClr val="0F111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Corporate Executives:</a:t>
            </a:r>
            <a:r>
              <a:rPr b="0"/>
              <a:t> Streamlined premium booking flow.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34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Box 6"/>
          <p:cNvSpPr txBox="1"/>
          <p:nvPr/>
        </p:nvSpPr>
        <p:spPr>
          <a:xfrm>
            <a:off x="5611117" y="762000"/>
            <a:ext cx="1442815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100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SYSTEM CAPABILITIES</a:t>
            </a:r>
          </a:p>
        </p:txBody>
      </p:sp>
      <p:sp>
        <p:nvSpPr>
          <p:cNvPr id="145" name="TextBox 7"/>
          <p:cNvSpPr txBox="1"/>
          <p:nvPr/>
        </p:nvSpPr>
        <p:spPr>
          <a:xfrm>
            <a:off x="5611117" y="1076325"/>
            <a:ext cx="3087192" cy="501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900"/>
              </a:lnSpc>
              <a:defRPr b="1" sz="3600">
                <a:solidFill>
                  <a:srgbClr val="0F1115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Core Features</a:t>
            </a:r>
          </a:p>
        </p:txBody>
      </p:sp>
      <p:sp>
        <p:nvSpPr>
          <p:cNvPr id="146" name="TextBox 8"/>
          <p:cNvSpPr txBox="1"/>
          <p:nvPr/>
        </p:nvSpPr>
        <p:spPr>
          <a:xfrm>
            <a:off x="5973067" y="2188815"/>
            <a:ext cx="5552183" cy="6240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500"/>
              </a:lnSpc>
              <a:defRPr b="1">
                <a:solidFill>
                  <a:srgbClr val="0F111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Dynamic Telemetry:</a:t>
            </a:r>
            <a:r>
              <a:rPr b="0"/>
              <a:t> Hover-activated CSS specification grids.</a:t>
            </a:r>
          </a:p>
        </p:txBody>
      </p:sp>
      <p:sp>
        <p:nvSpPr>
          <p:cNvPr id="147" name="TextBox 9"/>
          <p:cNvSpPr txBox="1"/>
          <p:nvPr/>
        </p:nvSpPr>
        <p:spPr>
          <a:xfrm>
            <a:off x="5973067" y="3057375"/>
            <a:ext cx="5552183" cy="624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500"/>
              </a:lnSpc>
              <a:defRPr b="1">
                <a:solidFill>
                  <a:srgbClr val="0F111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Sticky Navigation:</a:t>
            </a:r>
            <a:r>
              <a:rPr b="0"/>
              <a:t> CSS-driven scroll behavior and blur backing.</a:t>
            </a:r>
          </a:p>
        </p:txBody>
      </p:sp>
      <p:sp>
        <p:nvSpPr>
          <p:cNvPr id="148" name="TextBox 10"/>
          <p:cNvSpPr txBox="1"/>
          <p:nvPr/>
        </p:nvSpPr>
        <p:spPr>
          <a:xfrm>
            <a:off x="5973067" y="3925937"/>
            <a:ext cx="5552183" cy="306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500"/>
              </a:lnSpc>
              <a:defRPr b="1">
                <a:solidFill>
                  <a:srgbClr val="0F111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Native Validation:</a:t>
            </a:r>
            <a:r>
              <a:rPr b="0"/>
              <a:t> Browser-level form data checking.</a:t>
            </a:r>
          </a:p>
        </p:txBody>
      </p:sp>
      <p:sp>
        <p:nvSpPr>
          <p:cNvPr id="149" name="TextBox 11"/>
          <p:cNvSpPr txBox="1"/>
          <p:nvPr/>
        </p:nvSpPr>
        <p:spPr>
          <a:xfrm>
            <a:off x="5973067" y="4794498"/>
            <a:ext cx="4743426" cy="306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2500"/>
              </a:lnSpc>
              <a:defRPr b="1">
                <a:solidFill>
                  <a:srgbClr val="0F111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Dark Aesthetics:</a:t>
            </a:r>
            <a:r>
              <a:rPr b="0"/>
              <a:t> High-contrast vanity layouts.</a:t>
            </a:r>
          </a:p>
        </p:txBody>
      </p:sp>
      <p:pic>
        <p:nvPicPr>
          <p:cNvPr id="150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0815" y="-82567"/>
            <a:ext cx="4323848" cy="41436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51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96209" y="4224454"/>
            <a:ext cx="4743426" cy="266817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8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4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2" presetID="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2" presetID="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2" presetID="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Class="entr" nodeType="clickEffect" presetSubtype="2" presetID="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6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ntr" nodeType="clickEffect" presetSubtype="2" presetID="2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6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Class="entr" nodeType="clickEffect" presetSubtype="2" presetID="2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6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51" grpId="2"/>
      <p:bldP build="whole" bldLvl="1" animBg="1" rev="0" advAuto="0" spid="145" grpId="4"/>
      <p:bldP build="whole" bldLvl="1" animBg="1" rev="0" advAuto="0" spid="146" grpId="5"/>
      <p:bldP build="whole" bldLvl="1" animBg="1" rev="0" advAuto="0" spid="148" grpId="7"/>
      <p:bldP build="whole" bldLvl="1" animBg="1" rev="0" advAuto="0" spid="150" grpId="1"/>
      <p:bldP build="whole" bldLvl="1" animBg="1" rev="0" advAuto="0" spid="149" grpId="8"/>
      <p:bldP build="whole" bldLvl="1" animBg="1" rev="0" advAuto="0" spid="144" grpId="3"/>
      <p:bldP build="whole" bldLvl="1" animBg="1" rev="0" advAuto="0" spid="147" grpId="6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Box 1"/>
          <p:cNvSpPr txBox="1"/>
          <p:nvPr/>
        </p:nvSpPr>
        <p:spPr>
          <a:xfrm>
            <a:off x="762000" y="762000"/>
            <a:ext cx="1682552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100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APPLICATION STRUCTURE</a:t>
            </a:r>
          </a:p>
        </p:txBody>
      </p:sp>
      <p:sp>
        <p:nvSpPr>
          <p:cNvPr id="154" name="TextBox 2"/>
          <p:cNvSpPr txBox="1"/>
          <p:nvPr/>
        </p:nvSpPr>
        <p:spPr>
          <a:xfrm>
            <a:off x="762000" y="1076325"/>
            <a:ext cx="3654674" cy="501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900"/>
              </a:lnSpc>
              <a:defRPr b="1" sz="3600">
                <a:solidFill>
                  <a:srgbClr val="0F1115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Site Architecture</a:t>
            </a:r>
          </a:p>
        </p:txBody>
      </p:sp>
      <p:sp>
        <p:nvSpPr>
          <p:cNvPr id="155" name="TextBox 3"/>
          <p:cNvSpPr txBox="1"/>
          <p:nvPr/>
        </p:nvSpPr>
        <p:spPr>
          <a:xfrm>
            <a:off x="761999" y="2646015"/>
            <a:ext cx="521247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36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56" name="TextBox 4"/>
          <p:cNvSpPr txBox="1"/>
          <p:nvPr/>
        </p:nvSpPr>
        <p:spPr>
          <a:xfrm>
            <a:off x="762000" y="3379439"/>
            <a:ext cx="647825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>
                <a:solidFill>
                  <a:srgbClr val="0F1115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Home</a:t>
            </a:r>
          </a:p>
        </p:txBody>
      </p:sp>
      <p:sp>
        <p:nvSpPr>
          <p:cNvPr id="157" name="TextBox 5"/>
          <p:cNvSpPr txBox="1"/>
          <p:nvPr/>
        </p:nvSpPr>
        <p:spPr>
          <a:xfrm>
            <a:off x="762000" y="3779489"/>
            <a:ext cx="2590800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Hero landing and brand introduction.</a:t>
            </a:r>
          </a:p>
        </p:txBody>
      </p:sp>
      <p:sp>
        <p:nvSpPr>
          <p:cNvPr id="158" name="TextBox 6"/>
          <p:cNvSpPr txBox="1"/>
          <p:nvPr/>
        </p:nvSpPr>
        <p:spPr>
          <a:xfrm>
            <a:off x="3486150" y="2746026"/>
            <a:ext cx="521246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36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59" name="TextBox 7"/>
          <p:cNvSpPr txBox="1"/>
          <p:nvPr/>
        </p:nvSpPr>
        <p:spPr>
          <a:xfrm>
            <a:off x="3486150" y="3479451"/>
            <a:ext cx="1448036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>
                <a:solidFill>
                  <a:srgbClr val="0F1115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Fleet Catalog</a:t>
            </a:r>
          </a:p>
        </p:txBody>
      </p:sp>
      <p:sp>
        <p:nvSpPr>
          <p:cNvPr id="160" name="TextBox 8"/>
          <p:cNvSpPr txBox="1"/>
          <p:nvPr/>
        </p:nvSpPr>
        <p:spPr>
          <a:xfrm>
            <a:off x="3486150" y="3879501"/>
            <a:ext cx="213868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3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Grid-based vehicle inventory.</a:t>
            </a:r>
          </a:p>
        </p:txBody>
      </p:sp>
      <p:sp>
        <p:nvSpPr>
          <p:cNvPr id="161" name="TextBox 9"/>
          <p:cNvSpPr txBox="1"/>
          <p:nvPr/>
        </p:nvSpPr>
        <p:spPr>
          <a:xfrm>
            <a:off x="6210300" y="2646015"/>
            <a:ext cx="521246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36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62" name="TextBox 10"/>
          <p:cNvSpPr txBox="1"/>
          <p:nvPr/>
        </p:nvSpPr>
        <p:spPr>
          <a:xfrm>
            <a:off x="6210300" y="3379439"/>
            <a:ext cx="1423033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>
                <a:solidFill>
                  <a:srgbClr val="0F1115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Specs Matrix</a:t>
            </a:r>
          </a:p>
        </p:txBody>
      </p:sp>
      <p:sp>
        <p:nvSpPr>
          <p:cNvPr id="163" name="TextBox 11"/>
          <p:cNvSpPr txBox="1"/>
          <p:nvPr/>
        </p:nvSpPr>
        <p:spPr>
          <a:xfrm>
            <a:off x="6210300" y="3779489"/>
            <a:ext cx="2590800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Tabular telemetry and performance data.</a:t>
            </a:r>
          </a:p>
        </p:txBody>
      </p:sp>
      <p:sp>
        <p:nvSpPr>
          <p:cNvPr id="164" name="TextBox 12"/>
          <p:cNvSpPr txBox="1"/>
          <p:nvPr/>
        </p:nvSpPr>
        <p:spPr>
          <a:xfrm>
            <a:off x="8934450" y="2646015"/>
            <a:ext cx="521246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36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165" name="TextBox 13"/>
          <p:cNvSpPr txBox="1"/>
          <p:nvPr/>
        </p:nvSpPr>
        <p:spPr>
          <a:xfrm>
            <a:off x="8934450" y="3379439"/>
            <a:ext cx="1930797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>
                <a:solidFill>
                  <a:srgbClr val="0F1115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Booking Gateway</a:t>
            </a:r>
          </a:p>
        </p:txBody>
      </p:sp>
      <p:sp>
        <p:nvSpPr>
          <p:cNvPr id="166" name="TextBox 14"/>
          <p:cNvSpPr txBox="1"/>
          <p:nvPr/>
        </p:nvSpPr>
        <p:spPr>
          <a:xfrm>
            <a:off x="8934450" y="3779489"/>
            <a:ext cx="259080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Native HTML5 consultation forms.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Box 3"/>
          <p:cNvSpPr txBox="1"/>
          <p:nvPr/>
        </p:nvSpPr>
        <p:spPr>
          <a:xfrm>
            <a:off x="762000" y="1718517"/>
            <a:ext cx="80074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100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UI ANATOMY</a:t>
            </a:r>
          </a:p>
        </p:txBody>
      </p:sp>
      <p:sp>
        <p:nvSpPr>
          <p:cNvPr id="169" name="TextBox 4"/>
          <p:cNvSpPr txBox="1"/>
          <p:nvPr/>
        </p:nvSpPr>
        <p:spPr>
          <a:xfrm>
            <a:off x="762000" y="2032842"/>
            <a:ext cx="3307978" cy="5013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900"/>
              </a:lnSpc>
              <a:defRPr b="1" sz="3600">
                <a:solidFill>
                  <a:srgbClr val="0F1115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Visual Strategy</a:t>
            </a:r>
          </a:p>
        </p:txBody>
      </p:sp>
      <p:sp>
        <p:nvSpPr>
          <p:cNvPr id="170" name="TextBox 5"/>
          <p:cNvSpPr txBox="1"/>
          <p:nvPr/>
        </p:nvSpPr>
        <p:spPr>
          <a:xfrm>
            <a:off x="762000" y="3145333"/>
            <a:ext cx="1740483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>
                <a:solidFill>
                  <a:srgbClr val="0F1115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Glassmorphism</a:t>
            </a:r>
          </a:p>
        </p:txBody>
      </p:sp>
      <p:sp>
        <p:nvSpPr>
          <p:cNvPr id="171" name="TextBox 6"/>
          <p:cNvSpPr txBox="1"/>
          <p:nvPr/>
        </p:nvSpPr>
        <p:spPr>
          <a:xfrm>
            <a:off x="752614" y="3511425"/>
            <a:ext cx="256393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3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Transparent backdrop-filter effects.</a:t>
            </a:r>
          </a:p>
        </p:txBody>
      </p:sp>
      <p:sp>
        <p:nvSpPr>
          <p:cNvPr id="172" name="TextBox 7"/>
          <p:cNvSpPr txBox="1"/>
          <p:nvPr/>
        </p:nvSpPr>
        <p:spPr>
          <a:xfrm>
            <a:off x="762000" y="4050207"/>
            <a:ext cx="1549946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>
                <a:solidFill>
                  <a:srgbClr val="0F1115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Deep Neutrals</a:t>
            </a:r>
          </a:p>
        </p:txBody>
      </p:sp>
      <p:sp>
        <p:nvSpPr>
          <p:cNvPr id="173" name="TextBox 8"/>
          <p:cNvSpPr txBox="1"/>
          <p:nvPr/>
        </p:nvSpPr>
        <p:spPr>
          <a:xfrm>
            <a:off x="762000" y="4450257"/>
            <a:ext cx="23162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3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High contrast visual foundation.</a:t>
            </a:r>
          </a:p>
        </p:txBody>
      </p:sp>
      <p:sp>
        <p:nvSpPr>
          <p:cNvPr id="174" name="TextBox 9"/>
          <p:cNvSpPr txBox="1"/>
          <p:nvPr/>
        </p:nvSpPr>
        <p:spPr>
          <a:xfrm>
            <a:off x="762000" y="4955082"/>
            <a:ext cx="2765165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>
                <a:solidFill>
                  <a:srgbClr val="0F1115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Performance Typography</a:t>
            </a:r>
          </a:p>
        </p:txBody>
      </p:sp>
      <p:sp>
        <p:nvSpPr>
          <p:cNvPr id="175" name="TextBox 10"/>
          <p:cNvSpPr txBox="1"/>
          <p:nvPr/>
        </p:nvSpPr>
        <p:spPr>
          <a:xfrm>
            <a:off x="762000" y="5355132"/>
            <a:ext cx="27932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3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Plus Jakarta Sans hierarchy mapping.</a:t>
            </a:r>
          </a:p>
        </p:txBody>
      </p:sp>
      <p:pic>
        <p:nvPicPr>
          <p:cNvPr id="176" name="Found on Cosmos.jpeg" descr="Found on Cosmos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133707" y="630832"/>
            <a:ext cx="7956167" cy="559637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76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ounded Rectangle 1"/>
          <p:cNvSpPr/>
          <p:nvPr/>
        </p:nvSpPr>
        <p:spPr>
          <a:xfrm>
            <a:off x="762000" y="2341215"/>
            <a:ext cx="5029200" cy="4516338"/>
          </a:xfrm>
          <a:prstGeom prst="roundRect">
            <a:avLst>
              <a:gd name="adj" fmla="val 2530"/>
            </a:avLst>
          </a:prstGeom>
          <a:solidFill>
            <a:srgbClr val="F8FA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9" name="Rounded Rectangle 2"/>
          <p:cNvSpPr/>
          <p:nvPr/>
        </p:nvSpPr>
        <p:spPr>
          <a:xfrm>
            <a:off x="6400800" y="2341215"/>
            <a:ext cx="5029200" cy="4516338"/>
          </a:xfrm>
          <a:prstGeom prst="roundRect">
            <a:avLst>
              <a:gd name="adj" fmla="val 2530"/>
            </a:avLst>
          </a:prstGeom>
          <a:solidFill>
            <a:srgbClr val="F8FA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0" name="Rectangle 3"/>
          <p:cNvSpPr/>
          <p:nvPr/>
        </p:nvSpPr>
        <p:spPr>
          <a:xfrm>
            <a:off x="762000" y="2341215"/>
            <a:ext cx="5029200" cy="38101"/>
          </a:xfrm>
          <a:prstGeom prst="rect">
            <a:avLst/>
          </a:prstGeom>
          <a:solidFill>
            <a:srgbClr val="0F111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1" name="Rectangle 4"/>
          <p:cNvSpPr/>
          <p:nvPr/>
        </p:nvSpPr>
        <p:spPr>
          <a:xfrm>
            <a:off x="6400800" y="2341215"/>
            <a:ext cx="5029200" cy="38101"/>
          </a:xfrm>
          <a:prstGeom prst="rect">
            <a:avLst/>
          </a:prstGeom>
          <a:solidFill>
            <a:srgbClr val="EF444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82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19200" y="3508026"/>
            <a:ext cx="238125" cy="200026"/>
          </a:xfrm>
          <a:prstGeom prst="rect">
            <a:avLst/>
          </a:prstGeom>
          <a:ln w="12700">
            <a:miter lim="400000"/>
          </a:ln>
        </p:spPr>
      </p:pic>
      <p:pic>
        <p:nvPicPr>
          <p:cNvPr id="183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19200" y="4376587"/>
            <a:ext cx="190500" cy="200026"/>
          </a:xfrm>
          <a:prstGeom prst="rect">
            <a:avLst/>
          </a:prstGeom>
          <a:ln w="12700">
            <a:miter lim="400000"/>
          </a:ln>
        </p:spPr>
      </p:pic>
      <p:pic>
        <p:nvPicPr>
          <p:cNvPr id="184" name="Picture 7" descr="Picture 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219200" y="5245148"/>
            <a:ext cx="171450" cy="200026"/>
          </a:xfrm>
          <a:prstGeom prst="rect">
            <a:avLst/>
          </a:prstGeom>
          <a:ln w="12700">
            <a:miter lim="400000"/>
          </a:ln>
        </p:spPr>
      </p:pic>
      <p:pic>
        <p:nvPicPr>
          <p:cNvPr id="185" name="Picture 8" descr="Picture 8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858000" y="3508026"/>
            <a:ext cx="219075" cy="200026"/>
          </a:xfrm>
          <a:prstGeom prst="rect">
            <a:avLst/>
          </a:prstGeom>
          <a:ln w="12700">
            <a:miter lim="400000"/>
          </a:ln>
        </p:spPr>
      </p:pic>
      <p:pic>
        <p:nvPicPr>
          <p:cNvPr id="186" name="Picture 9" descr="Picture 9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6858000" y="4376587"/>
            <a:ext cx="190500" cy="200026"/>
          </a:xfrm>
          <a:prstGeom prst="rect">
            <a:avLst/>
          </a:prstGeom>
          <a:ln w="12700">
            <a:miter lim="400000"/>
          </a:ln>
        </p:spPr>
      </p:pic>
      <p:pic>
        <p:nvPicPr>
          <p:cNvPr id="187" name="Picture 10" descr="Picture 10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6858000" y="5245148"/>
            <a:ext cx="219075" cy="200026"/>
          </a:xfrm>
          <a:prstGeom prst="rect">
            <a:avLst/>
          </a:prstGeom>
          <a:ln w="12700">
            <a:miter lim="400000"/>
          </a:ln>
        </p:spPr>
      </p:pic>
      <p:sp>
        <p:nvSpPr>
          <p:cNvPr id="188" name="TextBox 11"/>
          <p:cNvSpPr txBox="1"/>
          <p:nvPr/>
        </p:nvSpPr>
        <p:spPr>
          <a:xfrm>
            <a:off x="761999" y="762000"/>
            <a:ext cx="1616697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100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TECHNICAL FOUNDATION</a:t>
            </a:r>
          </a:p>
        </p:txBody>
      </p:sp>
      <p:sp>
        <p:nvSpPr>
          <p:cNvPr id="189" name="TextBox 12"/>
          <p:cNvSpPr txBox="1"/>
          <p:nvPr/>
        </p:nvSpPr>
        <p:spPr>
          <a:xfrm>
            <a:off x="762000" y="1076325"/>
            <a:ext cx="4001592" cy="501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900"/>
              </a:lnSpc>
              <a:defRPr b="1" sz="3600">
                <a:solidFill>
                  <a:srgbClr val="0F1115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Engineering Stack</a:t>
            </a:r>
          </a:p>
        </p:txBody>
      </p:sp>
      <p:sp>
        <p:nvSpPr>
          <p:cNvPr id="190" name="TextBox 13"/>
          <p:cNvSpPr txBox="1"/>
          <p:nvPr/>
        </p:nvSpPr>
        <p:spPr>
          <a:xfrm>
            <a:off x="1219200" y="2836515"/>
            <a:ext cx="2161276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2100">
                <a:solidFill>
                  <a:srgbClr val="0F1115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HTML5 Structure</a:t>
            </a:r>
          </a:p>
        </p:txBody>
      </p:sp>
      <p:sp>
        <p:nvSpPr>
          <p:cNvPr id="191" name="TextBox 14"/>
          <p:cNvSpPr txBox="1"/>
          <p:nvPr/>
        </p:nvSpPr>
        <p:spPr>
          <a:xfrm>
            <a:off x="6858000" y="2836515"/>
            <a:ext cx="2398936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2100">
                <a:solidFill>
                  <a:srgbClr val="0F1115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CSS3 Presentation</a:t>
            </a:r>
          </a:p>
        </p:txBody>
      </p:sp>
      <p:sp>
        <p:nvSpPr>
          <p:cNvPr id="192" name="TextBox 15"/>
          <p:cNvSpPr txBox="1"/>
          <p:nvPr/>
        </p:nvSpPr>
        <p:spPr>
          <a:xfrm>
            <a:off x="1647825" y="3474689"/>
            <a:ext cx="3781425" cy="624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500"/>
              </a:lnSpc>
              <a:defRPr b="1">
                <a:solidFill>
                  <a:srgbClr val="0F111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Semantics:</a:t>
            </a:r>
            <a:r>
              <a:rPr b="0"/>
              <a:t> Structured document layout tree.</a:t>
            </a:r>
          </a:p>
        </p:txBody>
      </p:sp>
      <p:sp>
        <p:nvSpPr>
          <p:cNvPr id="193" name="TextBox 16"/>
          <p:cNvSpPr txBox="1"/>
          <p:nvPr/>
        </p:nvSpPr>
        <p:spPr>
          <a:xfrm>
            <a:off x="1600200" y="4343251"/>
            <a:ext cx="3829050" cy="6240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500"/>
              </a:lnSpc>
              <a:defRPr b="1">
                <a:solidFill>
                  <a:srgbClr val="0F111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Data Layout:</a:t>
            </a:r>
            <a:r>
              <a:rPr b="0"/>
              <a:t> Accessible table architectures.</a:t>
            </a:r>
          </a:p>
        </p:txBody>
      </p:sp>
      <p:sp>
        <p:nvSpPr>
          <p:cNvPr id="194" name="TextBox 17"/>
          <p:cNvSpPr txBox="1"/>
          <p:nvPr/>
        </p:nvSpPr>
        <p:spPr>
          <a:xfrm>
            <a:off x="1581150" y="5211812"/>
            <a:ext cx="3848100" cy="306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500"/>
              </a:lnSpc>
              <a:defRPr b="1">
                <a:solidFill>
                  <a:srgbClr val="0F111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Validation:</a:t>
            </a:r>
            <a:r>
              <a:rPr b="0"/>
              <a:t> Required input attributes.</a:t>
            </a:r>
          </a:p>
        </p:txBody>
      </p:sp>
      <p:sp>
        <p:nvSpPr>
          <p:cNvPr id="195" name="TextBox 18"/>
          <p:cNvSpPr txBox="1"/>
          <p:nvPr/>
        </p:nvSpPr>
        <p:spPr>
          <a:xfrm>
            <a:off x="7267575" y="3474689"/>
            <a:ext cx="3800475" cy="624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500"/>
              </a:lnSpc>
              <a:defRPr b="1">
                <a:solidFill>
                  <a:srgbClr val="0F111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Architecture:</a:t>
            </a:r>
            <a:r>
              <a:rPr b="0"/>
              <a:t> Flexbox and Grid systems.</a:t>
            </a:r>
          </a:p>
        </p:txBody>
      </p:sp>
      <p:sp>
        <p:nvSpPr>
          <p:cNvPr id="196" name="TextBox 19"/>
          <p:cNvSpPr txBox="1"/>
          <p:nvPr/>
        </p:nvSpPr>
        <p:spPr>
          <a:xfrm>
            <a:off x="7239000" y="4343251"/>
            <a:ext cx="3829050" cy="6240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500"/>
              </a:lnSpc>
              <a:defRPr b="1">
                <a:solidFill>
                  <a:srgbClr val="0F111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Variables:</a:t>
            </a:r>
            <a:r>
              <a:rPr b="0"/>
              <a:t> Centralized token mapping.</a:t>
            </a:r>
          </a:p>
        </p:txBody>
      </p:sp>
      <p:sp>
        <p:nvSpPr>
          <p:cNvPr id="197" name="TextBox 20"/>
          <p:cNvSpPr txBox="1"/>
          <p:nvPr/>
        </p:nvSpPr>
        <p:spPr>
          <a:xfrm>
            <a:off x="7267575" y="5211812"/>
            <a:ext cx="3800475" cy="6240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500"/>
              </a:lnSpc>
              <a:defRPr b="1">
                <a:solidFill>
                  <a:srgbClr val="0F111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Interactions:</a:t>
            </a:r>
            <a:r>
              <a:rPr b="0"/>
              <a:t> Hardware-accelerated transforms.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62000" y="2374551"/>
            <a:ext cx="171450" cy="200026"/>
          </a:xfrm>
          <a:prstGeom prst="rect">
            <a:avLst/>
          </a:prstGeom>
          <a:ln w="12700">
            <a:miter lim="400000"/>
          </a:ln>
        </p:spPr>
      </p:pic>
      <p:pic>
        <p:nvPicPr>
          <p:cNvPr id="200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62000" y="2923133"/>
            <a:ext cx="171450" cy="200026"/>
          </a:xfrm>
          <a:prstGeom prst="rect">
            <a:avLst/>
          </a:prstGeom>
          <a:ln w="12700">
            <a:miter lim="400000"/>
          </a:ln>
        </p:spPr>
      </p:pic>
      <p:pic>
        <p:nvPicPr>
          <p:cNvPr id="201" name="Picture 3" descr="Pictur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62000" y="3471712"/>
            <a:ext cx="219075" cy="200026"/>
          </a:xfrm>
          <a:prstGeom prst="rect">
            <a:avLst/>
          </a:prstGeom>
          <a:ln w="12700">
            <a:miter lim="400000"/>
          </a:ln>
        </p:spPr>
      </p:pic>
      <p:sp>
        <p:nvSpPr>
          <p:cNvPr id="202" name="TextBox 5"/>
          <p:cNvSpPr txBox="1"/>
          <p:nvPr/>
        </p:nvSpPr>
        <p:spPr>
          <a:xfrm>
            <a:off x="762000" y="762000"/>
            <a:ext cx="668846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100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ROADMAP</a:t>
            </a:r>
          </a:p>
        </p:txBody>
      </p:sp>
      <p:sp>
        <p:nvSpPr>
          <p:cNvPr id="203" name="TextBox 6"/>
          <p:cNvSpPr txBox="1"/>
          <p:nvPr/>
        </p:nvSpPr>
        <p:spPr>
          <a:xfrm>
            <a:off x="761999" y="1076325"/>
            <a:ext cx="5729934" cy="501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900"/>
              </a:lnSpc>
              <a:defRPr b="1" sz="3600">
                <a:solidFill>
                  <a:srgbClr val="0F1115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Next Development Phases</a:t>
            </a:r>
          </a:p>
        </p:txBody>
      </p:sp>
      <p:sp>
        <p:nvSpPr>
          <p:cNvPr id="204" name="TextBox 7"/>
          <p:cNvSpPr txBox="1"/>
          <p:nvPr/>
        </p:nvSpPr>
        <p:spPr>
          <a:xfrm>
            <a:off x="1123950" y="2341215"/>
            <a:ext cx="6199746" cy="306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2500"/>
              </a:lnSpc>
              <a:defRPr>
                <a:solidFill>
                  <a:srgbClr val="0F1115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pPr>
            <a:r>
              <a:t> </a:t>
            </a:r>
            <a:r>
              <a:rPr b="1"/>
              <a:t>Backend Integration:</a:t>
            </a:r>
            <a:r>
              <a:t> Python and Flask server-side routing.</a:t>
            </a:r>
          </a:p>
        </p:txBody>
      </p:sp>
      <p:sp>
        <p:nvSpPr>
          <p:cNvPr id="205" name="TextBox 8"/>
          <p:cNvSpPr txBox="1"/>
          <p:nvPr/>
        </p:nvSpPr>
        <p:spPr>
          <a:xfrm>
            <a:off x="1123950" y="2889794"/>
            <a:ext cx="6971271" cy="306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2500"/>
              </a:lnSpc>
              <a:defRPr b="1">
                <a:solidFill>
                  <a:srgbClr val="0F111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Data Management:</a:t>
            </a:r>
            <a:r>
              <a:rPr b="0"/>
              <a:t> Dynamic inventory. Updates and manages data.</a:t>
            </a:r>
          </a:p>
        </p:txBody>
      </p:sp>
      <p:sp>
        <p:nvSpPr>
          <p:cNvPr id="206" name="TextBox 9"/>
          <p:cNvSpPr txBox="1"/>
          <p:nvPr/>
        </p:nvSpPr>
        <p:spPr>
          <a:xfrm>
            <a:off x="1171575" y="3438376"/>
            <a:ext cx="6442075" cy="306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2500"/>
              </a:lnSpc>
              <a:defRPr b="1">
                <a:solidFill>
                  <a:srgbClr val="0F111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Payment Gateway:</a:t>
            </a:r>
            <a:r>
              <a:rPr b="0"/>
              <a:t> Secure transaction processing capabilities.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Box 5"/>
          <p:cNvSpPr txBox="1"/>
          <p:nvPr/>
        </p:nvSpPr>
        <p:spPr>
          <a:xfrm>
            <a:off x="583672" y="715071"/>
            <a:ext cx="222191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CONCLUSION</a:t>
            </a:r>
          </a:p>
        </p:txBody>
      </p:sp>
      <p:sp>
        <p:nvSpPr>
          <p:cNvPr id="209" name="The website offers a fast and modern platform for hiring performance cars."/>
          <p:cNvSpPr txBox="1"/>
          <p:nvPr/>
        </p:nvSpPr>
        <p:spPr>
          <a:xfrm>
            <a:off x="805626" y="1873656"/>
            <a:ext cx="7782354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marL="160421" indent="-160421">
              <a:buSzPct val="100000"/>
              <a:buChar char="•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The website offers a fast and modern platform for hiring performance cars.</a:t>
            </a:r>
          </a:p>
        </p:txBody>
      </p:sp>
      <p:sp>
        <p:nvSpPr>
          <p:cNvPr id="210" name="It features a fleet of cars, detailed technical specifications, and a functional booking form."/>
          <p:cNvSpPr txBox="1"/>
          <p:nvPr/>
        </p:nvSpPr>
        <p:spPr>
          <a:xfrm>
            <a:off x="807451" y="3517637"/>
            <a:ext cx="8781977" cy="65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marL="160421" indent="-160421">
              <a:buSzPct val="100000"/>
              <a:buChar char="•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It features a fleet of cars, detailed technical specifications, and a functional booking form.</a:t>
            </a:r>
          </a:p>
        </p:txBody>
      </p:sp>
      <p:sp>
        <p:nvSpPr>
          <p:cNvPr id="211" name="It successfully links a custom HTML and CSS frontend with a Python server to handle user data."/>
          <p:cNvSpPr txBox="1"/>
          <p:nvPr/>
        </p:nvSpPr>
        <p:spPr>
          <a:xfrm>
            <a:off x="796240" y="2689296"/>
            <a:ext cx="993616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marL="120315" indent="-120315">
              <a:buSzPct val="100000"/>
              <a:buChar char="•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It successfully links a custom HTML and CSS frontend with a Python server to handle user data.</a:t>
            </a:r>
          </a:p>
        </p:txBody>
      </p:sp>
      <p:sp>
        <p:nvSpPr>
          <p:cNvPr id="212" name="Adding online payments and user accounts would make it ready for real-world business deployment."/>
          <p:cNvSpPr txBox="1"/>
          <p:nvPr/>
        </p:nvSpPr>
        <p:spPr>
          <a:xfrm>
            <a:off x="824397" y="4345978"/>
            <a:ext cx="10404669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marL="160421" indent="-160421">
              <a:buSzPct val="100000"/>
              <a:buChar char="•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Adding online payments and user accounts would make it ready for real-world business deployment.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Rectangle 1"/>
          <p:cNvSpPr/>
          <p:nvPr/>
        </p:nvSpPr>
        <p:spPr>
          <a:xfrm>
            <a:off x="5715000" y="3313306"/>
            <a:ext cx="762000" cy="38101"/>
          </a:xfrm>
          <a:prstGeom prst="rect">
            <a:avLst/>
          </a:prstGeom>
          <a:solidFill>
            <a:srgbClr val="EF444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5" name="TextBox 2"/>
          <p:cNvSpPr txBox="1"/>
          <p:nvPr/>
        </p:nvSpPr>
        <p:spPr>
          <a:xfrm>
            <a:off x="5308766" y="609600"/>
            <a:ext cx="1574466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b="1" sz="100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DEMONSTRATION &amp; VIVA</a:t>
            </a:r>
          </a:p>
        </p:txBody>
      </p:sp>
      <p:sp>
        <p:nvSpPr>
          <p:cNvPr id="216" name="TextBox 3"/>
          <p:cNvSpPr txBox="1"/>
          <p:nvPr/>
        </p:nvSpPr>
        <p:spPr>
          <a:xfrm>
            <a:off x="3985759" y="923925"/>
            <a:ext cx="4220481" cy="1003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b="1" sz="66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217" name="The current project connects a responsive customer-facing website, dynamic fleet browsing, detailed technical specifications, and booking validation through a Python Flask backend into one seamless application."/>
          <p:cNvSpPr txBox="1"/>
          <p:nvPr/>
        </p:nvSpPr>
        <p:spPr>
          <a:xfrm>
            <a:off x="1849251" y="2089150"/>
            <a:ext cx="8493498" cy="929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spcBef>
                <a:spcPts val="1200"/>
              </a:spcBef>
              <a:defRPr>
                <a:solidFill>
                  <a:srgbClr val="97A2B6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The current project connects a responsive customer-facing website, dynamic fleet browsing, detailed technical specifications, and booking validation through a Python Flask backend into one seamless application.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